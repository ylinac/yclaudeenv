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320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本次提案以「進階英文匯入系統」作為第一個 AI 自動化試行案例，驗證後再逐步推廣至其他系統。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四大現況痛點：人工作業耗時、舊系統難維護、資料孤島、人為錯誤。這些問題在進階英文匯入系統中尤為明顯。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架構圖：三個資料來源→核心引擎→三種輸出。第一個試行案例「進階英文匯入系統」將驗證此架構的可行性。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進階英文匯入系統改造重點：原本 3-5 小時的人工流程，透過 Python + AI 自動化縮短至 5 分鐘以內。這是最容易量化成效的第一個試行案例。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這六套工具涵蓋進階英文匯入系統自動化所需的全部能力。學習曲線依角色分工，不需每個人都全部學會。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時程說明：工具學習期（第1-2月）讓人員先熟悉 Python 基礎與 AI 提示技巧；系統測試期（第4-5月）採人工與自動化並行，確保資料正確性；第6月正式切換。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第一行特別強調進階英文匯入系統的改善成效：3-5小時→5分鐘以內，是最具說服力的數字。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結尾聚焦在可立即執行的具體步驟，讓聽眾知道第一步從哪裡開始，並強調系統測試期的並行驗證是確保安全切換的關鍵。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"/>
            <a:ext cx="1645920" cy="164592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智能化轉型提案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資料處理系統</a:t>
            </a:r>
            <a:endParaRPr lang="en-US" sz="4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自動化升級計畫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Visual FoxPro、Excel、MSSQL 邁向智能自動化作業平台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0"/>
          </a:xfrm>
          <a:prstGeom prst="line">
            <a:avLst/>
          </a:prstGeom>
          <a:noFill/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200" dirty="0">
                <a:solidFill>
                  <a:srgbClr val="94A3B8"/>
                </a:solidFill>
              </a:rPr>
              <a:t>課務組</a:t>
            </a:r>
            <a:r>
              <a:rPr lang="en-US" sz="1200" dirty="0">
                <a:solidFill>
                  <a:srgbClr val="94A3B8"/>
                </a:solidFill>
              </a:rPr>
              <a:t>　｜　試行系統：進階英文匯入系統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現況分析：現有系統的挑戰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rgbClr val="FFF3E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075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16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耗時的人工操作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56362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資料整理、核對、匯出需大量人工介入，重複作業佔用大量工時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234440"/>
            <a:ext cx="640080" cy="64008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3075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216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舊系統維護困難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852160" y="156362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FoxPro 技術老舊，難以擴充功能，遇到問題支援資源稀少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9992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907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資料孤島問題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25526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FoxPro、Excel、MSSQL 三套系統資料無法即時同步，需人工搬移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27432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2926080"/>
            <a:ext cx="640080" cy="64008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299923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29077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人工作業容易出錯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852160" y="325526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手動輸入、複製貼上易產生人為錯誤，且難以追蹤錯誤來源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解決方案：AI 自動化系統架構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</a:rPr>
              <a:t>現有資料來源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371600"/>
            <a:ext cx="749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Visual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FoxPro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69848" y="137160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1D6F42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371600"/>
            <a:ext cx="749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Excel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試算表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11096" y="1371600"/>
            <a:ext cx="749808" cy="658368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1911096" y="1371600"/>
            <a:ext cx="749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MSSQL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資料庫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572768"/>
            <a:ext cx="457200" cy="3474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37560" y="10058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E2D4E"/>
          </a:solidFill>
          <a:ln/>
          <a:effectLst>
            <a:outerShdw blurRad="2032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AI 自動化核心引擎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20440" y="155448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1554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智能資料擷取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196596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520440" y="19659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自動格式轉換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20440" y="237744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520440" y="23774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規則式驗證引擎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20440" y="27889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520440" y="2788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排程自動執行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457200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294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</a:rPr>
              <a:t>自動輸出結果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83680" y="1371600"/>
            <a:ext cx="868680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0" y="1371600"/>
            <a:ext cx="868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自動報表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輸出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543800" y="1371600"/>
            <a:ext cx="868680" cy="658368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/>
        </p:spPr>
      </p:sp>
      <p:sp>
        <p:nvSpPr>
          <p:cNvPr id="27" name="Text 23"/>
          <p:cNvSpPr/>
          <p:nvPr/>
        </p:nvSpPr>
        <p:spPr>
          <a:xfrm>
            <a:off x="7543800" y="1371600"/>
            <a:ext cx="868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資料庫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自動更新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583680" y="2121408"/>
            <a:ext cx="868680" cy="658368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/>
        </p:spPr>
      </p:sp>
      <p:sp>
        <p:nvSpPr>
          <p:cNvPr id="29" name="Text 25"/>
          <p:cNvSpPr/>
          <p:nvPr/>
        </p:nvSpPr>
        <p:spPr>
          <a:xfrm>
            <a:off x="6583680" y="2121408"/>
            <a:ext cx="8686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異常警示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通知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57200" y="3520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E6F4F2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</a:rPr>
              <a:t>80%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45720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減少人工作業時間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337560" y="3520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E6F4F2"/>
          </a:solidFill>
          <a:ln/>
        </p:spPr>
      </p:sp>
      <p:sp>
        <p:nvSpPr>
          <p:cNvPr id="34" name="Text 30"/>
          <p:cNvSpPr/>
          <p:nvPr/>
        </p:nvSpPr>
        <p:spPr>
          <a:xfrm>
            <a:off x="3337560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</a:rPr>
              <a:t>95%+</a:t>
            </a:r>
            <a:endParaRPr lang="en-US" sz="3200" dirty="0"/>
          </a:p>
        </p:txBody>
      </p:sp>
      <p:sp>
        <p:nvSpPr>
          <p:cNvPr id="35" name="Text 31"/>
          <p:cNvSpPr/>
          <p:nvPr/>
        </p:nvSpPr>
        <p:spPr>
          <a:xfrm>
            <a:off x="333756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資料處理準確率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217920" y="3520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E6F4F2"/>
          </a:solidFill>
          <a:ln/>
        </p:spPr>
      </p:sp>
      <p:sp>
        <p:nvSpPr>
          <p:cNvPr id="37" name="Text 33"/>
          <p:cNvSpPr/>
          <p:nvPr/>
        </p:nvSpPr>
        <p:spPr>
          <a:xfrm>
            <a:off x="6217920" y="3566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</a:rPr>
              <a:t>24/7</a:t>
            </a:r>
            <a:endParaRPr lang="en-US" sz="3200" dirty="0"/>
          </a:p>
        </p:txBody>
      </p:sp>
      <p:sp>
        <p:nvSpPr>
          <p:cNvPr id="38" name="Text 34"/>
          <p:cNvSpPr/>
          <p:nvPr/>
        </p:nvSpPr>
        <p:spPr>
          <a:xfrm>
            <a:off x="621792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排程自動執行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第一個試行系統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進階英文匯入系統　AI 自動化改造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0058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98448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 現有人工流程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FFAFA"/>
          </a:solidFill>
          <a:ln w="635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2880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173736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接收英文資料檔案（Excel/CSV）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304288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FFAFA"/>
          </a:solidFill>
          <a:ln w="635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3957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304288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人工逐筆核對欄位格式與內容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871216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FFAFA"/>
          </a:solidFill>
          <a:ln w="635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9626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871216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手動轉換編碼 / 欄位對應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365760" y="3438144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FFAFA"/>
          </a:solidFill>
          <a:ln w="635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52958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343814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複製貼上匯入 FoxPro 或 MSSQL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65760" y="4005072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FFAFA"/>
          </a:solidFill>
          <a:ln w="6350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409651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6112" y="4005072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人工抽查驗證，發現錯誤再修正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65760" y="457200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EE2E2"/>
          </a:solidFill>
          <a:ln/>
        </p:spPr>
      </p:sp>
      <p:sp>
        <p:nvSpPr>
          <p:cNvPr id="24" name="Text 17"/>
          <p:cNvSpPr/>
          <p:nvPr/>
        </p:nvSpPr>
        <p:spPr>
          <a:xfrm>
            <a:off x="36576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⏱  每批作業約需 3–5 小時人工處理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937760" y="1298448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F0FDF4"/>
          </a:solidFill>
          <a:ln/>
        </p:spPr>
      </p:sp>
      <p:sp>
        <p:nvSpPr>
          <p:cNvPr id="26" name="Text 19"/>
          <p:cNvSpPr/>
          <p:nvPr/>
        </p:nvSpPr>
        <p:spPr>
          <a:xfrm>
            <a:off x="493776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 AI 自動化流程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937760" y="1737360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0FEFA"/>
          </a:solidFill>
          <a:ln w="635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4064" y="182880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68112" y="1737360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自動偵測並讀取新增檔案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937760" y="2304288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0FEFA"/>
          </a:solidFill>
          <a:ln w="635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064" y="2395728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68112" y="2304288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 自動識別欄位對應與格式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937760" y="2871216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0FEFA"/>
          </a:solidFill>
          <a:ln w="635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064" y="2962656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68112" y="2871216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Python 自動轉換編碼與欄位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4937760" y="3438144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0FEFA"/>
          </a:solidFill>
          <a:ln w="635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064" y="3529584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468112" y="343814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自動批次匯入 MSSQL，並記錄 log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4937760" y="4005072"/>
            <a:ext cx="3840480" cy="475488"/>
          </a:xfrm>
          <a:prstGeom prst="roundRect">
            <a:avLst>
              <a:gd name="adj" fmla="val 13462"/>
            </a:avLst>
          </a:prstGeom>
          <a:solidFill>
            <a:srgbClr val="F0FEFA"/>
          </a:solidFill>
          <a:ln w="6350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4064" y="4096512"/>
            <a:ext cx="292608" cy="29260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468112" y="4005072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自動驗證規則，異常立即警示通知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4937760" y="4572000"/>
            <a:ext cx="3840480" cy="347472"/>
          </a:xfrm>
          <a:prstGeom prst="roundRect">
            <a:avLst>
              <a:gd name="adj" fmla="val 18421"/>
            </a:avLst>
          </a:prstGeom>
          <a:solidFill>
            <a:srgbClr val="DCFCE7"/>
          </a:solidFill>
          <a:ln/>
        </p:spPr>
      </p:sp>
      <p:sp>
        <p:nvSpPr>
          <p:cNvPr id="43" name="Text 31"/>
          <p:cNvSpPr/>
          <p:nvPr/>
        </p:nvSpPr>
        <p:spPr>
          <a:xfrm>
            <a:off x="4937760" y="4572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⚡  自動完成，處理時間縮短至 5 分鐘以內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4370832" y="2697480"/>
            <a:ext cx="402336" cy="329184"/>
          </a:xfrm>
          <a:prstGeom prst="ellipse">
            <a:avLst/>
          </a:prstGeom>
          <a:solidFill>
            <a:srgbClr val="1E2D4E"/>
          </a:solidFill>
          <a:ln/>
        </p:spPr>
      </p:sp>
      <p:sp>
        <p:nvSpPr>
          <p:cNvPr id="45" name="Text 33"/>
          <p:cNvSpPr/>
          <p:nvPr/>
        </p:nvSpPr>
        <p:spPr>
          <a:xfrm>
            <a:off x="4370832" y="269748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建議工具組合：不需精通 AI 也能上手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188720"/>
            <a:ext cx="594360" cy="59436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61872"/>
            <a:ext cx="448056" cy="4480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118872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1188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AI 助理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/ ChatGPT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84708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用自然語言描述需求，AI 自動生成 Python/SQL 程式碼，無需自己寫程式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72968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188720"/>
            <a:ext cx="594360" cy="59436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61872"/>
            <a:ext cx="448056" cy="4480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87368" y="118872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15" name="Text 11"/>
          <p:cNvSpPr/>
          <p:nvPr/>
        </p:nvSpPr>
        <p:spPr>
          <a:xfrm>
            <a:off x="4087368" y="1188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資料自動化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087368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37560" y="184708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取代手動 Excel 操作，自動讀取、轉換、整理資料並寫入 MSSQL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25896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0488" y="1188720"/>
            <a:ext cx="594360" cy="594360"/>
          </a:xfrm>
          <a:prstGeom prst="ellipse">
            <a:avLst/>
          </a:prstGeom>
          <a:solidFill>
            <a:srgbClr val="F0FDF4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61872"/>
            <a:ext cx="448056" cy="4480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40296" y="118872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22" name="Text 17"/>
          <p:cNvSpPr/>
          <p:nvPr/>
        </p:nvSpPr>
        <p:spPr>
          <a:xfrm>
            <a:off x="6940296" y="11887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流程自動化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940296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190488" y="184708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微軟官方工具，拖拉介面設定自動化流程，與 Excel、Outlook 無縫整合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2004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4632" y="310896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182112"/>
            <a:ext cx="448056" cy="44805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234440" y="310896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29" name="Text 23"/>
          <p:cNvSpPr/>
          <p:nvPr/>
        </p:nvSpPr>
        <p:spPr>
          <a:xfrm>
            <a:off x="1234440" y="3108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報表視覺化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123444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84632" y="376732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 MSSQL 自動生成互動式報表，取代手動製作 Excel 圖表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172968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337560" y="3108960"/>
            <a:ext cx="594360" cy="5943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182112"/>
            <a:ext cx="448056" cy="44805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087368" y="310896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36" name="Text 29"/>
          <p:cNvSpPr/>
          <p:nvPr/>
        </p:nvSpPr>
        <p:spPr>
          <a:xfrm>
            <a:off x="4087368" y="3108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工作流整合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4087368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Make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337560" y="376732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視覺化連接各系統，設定觸發條件自動執行整批作業流程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025896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90488" y="3108960"/>
            <a:ext cx="594360" cy="59436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82112"/>
            <a:ext cx="448056" cy="44805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6940296" y="3108960"/>
            <a:ext cx="1572768" cy="256032"/>
          </a:xfrm>
          <a:prstGeom prst="roundRect">
            <a:avLst>
              <a:gd name="adj" fmla="val 17857"/>
            </a:avLst>
          </a:prstGeom>
          <a:solidFill>
            <a:srgbClr val="E6F4F2"/>
          </a:solidFill>
          <a:ln/>
        </p:spPr>
      </p:sp>
      <p:sp>
        <p:nvSpPr>
          <p:cNvPr id="43" name="Text 35"/>
          <p:cNvSpPr/>
          <p:nvPr/>
        </p:nvSpPr>
        <p:spPr>
          <a:xfrm>
            <a:off x="6940296" y="310896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排程執行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940296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190488" y="3767328"/>
            <a:ext cx="2359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MSSQL 內建排程器，定時自動執行資料處理任務，免人工觸發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執行時程：含工具學習 + 系統測試階段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5" name="Text 3"/>
          <p:cNvSpPr/>
          <p:nvPr/>
        </p:nvSpPr>
        <p:spPr>
          <a:xfrm>
            <a:off x="1920240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第1月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90672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7" name="Text 5"/>
          <p:cNvSpPr/>
          <p:nvPr/>
        </p:nvSpPr>
        <p:spPr>
          <a:xfrm>
            <a:off x="3090672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第2月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61104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9" name="Text 7"/>
          <p:cNvSpPr/>
          <p:nvPr/>
        </p:nvSpPr>
        <p:spPr>
          <a:xfrm>
            <a:off x="4261104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第3月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31536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11" name="Text 9"/>
          <p:cNvSpPr/>
          <p:nvPr/>
        </p:nvSpPr>
        <p:spPr>
          <a:xfrm>
            <a:off x="5431536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第4月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01968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第5月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749808"/>
            <a:ext cx="1115568" cy="292608"/>
          </a:xfrm>
          <a:prstGeom prst="roundRect">
            <a:avLst>
              <a:gd name="adj" fmla="val 15625"/>
            </a:avLst>
          </a:prstGeom>
          <a:solidFill>
            <a:srgbClr val="1E2D4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74980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第6月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1115568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1115568"/>
            <a:ext cx="1572768" cy="37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盤點與準備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1467429"/>
            <a:ext cx="1572768" cy="311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確認英文匯入系統的資料結構與作業流程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3090672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1104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31536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601968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115568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1188720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11680" y="118872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FoxPro 邏輯文件化・Excel 流程清單・MSSQL 結構分析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1865376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1865376"/>
            <a:ext cx="1572768" cy="37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🎓 工具學習期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" y="2217237"/>
            <a:ext cx="1572768" cy="311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目標：能看懂程式、修改參數、請 AI 生成腳本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20240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1" name="Shape 29"/>
          <p:cNvSpPr/>
          <p:nvPr/>
        </p:nvSpPr>
        <p:spPr>
          <a:xfrm>
            <a:off x="3090672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261104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5431536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6601968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0" y="1865376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1920240" y="1938528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7C3AED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11680" y="19385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基礎・pandas 資料處理・Claude AI 提示技巧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" y="2615184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292608" y="2615184"/>
            <a:ext cx="1572768" cy="37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🔧 系統開發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2608" y="2967045"/>
            <a:ext cx="1572768" cy="311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以 Claude AI 協助撰寫，人員確認邏輯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920240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3090672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4261104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5431536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6601968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7772400" y="2615184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4261104" y="2688336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F97316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52544" y="268833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進階英文匯入系統自動化腳本開發（AI 輔助生成）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92608" y="3364992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" y="3364992"/>
            <a:ext cx="1572768" cy="37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🧪 系統測試期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92608" y="3716853"/>
            <a:ext cx="1572768" cy="311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人工與自動化並行，確保資料無誤再切換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920240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3" name="Shape 51"/>
          <p:cNvSpPr/>
          <p:nvPr/>
        </p:nvSpPr>
        <p:spPr>
          <a:xfrm>
            <a:off x="3090672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4" name="Shape 52"/>
          <p:cNvSpPr/>
          <p:nvPr/>
        </p:nvSpPr>
        <p:spPr>
          <a:xfrm>
            <a:off x="4261104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5" name="Shape 53"/>
          <p:cNvSpPr/>
          <p:nvPr/>
        </p:nvSpPr>
        <p:spPr>
          <a:xfrm>
            <a:off x="5431536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6" name="Shape 54"/>
          <p:cNvSpPr/>
          <p:nvPr/>
        </p:nvSpPr>
        <p:spPr>
          <a:xfrm>
            <a:off x="6601968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0" y="3364992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58" name="Shape 56"/>
          <p:cNvSpPr/>
          <p:nvPr/>
        </p:nvSpPr>
        <p:spPr>
          <a:xfrm>
            <a:off x="5431536" y="3438144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0EA5E9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22976" y="343814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功能測試・邊界測試・實際資料驗證・錯誤修正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92608" y="4114800"/>
            <a:ext cx="1572768" cy="676656"/>
          </a:xfrm>
          <a:prstGeom prst="roundRect">
            <a:avLst>
              <a:gd name="adj" fmla="val 9459"/>
            </a:avLst>
          </a:prstGeom>
          <a:solidFill>
            <a:srgbClr val="16A34A"/>
          </a:solidFill>
          <a:ln/>
        </p:spPr>
      </p:sp>
      <p:sp>
        <p:nvSpPr>
          <p:cNvPr id="61" name="Text 59"/>
          <p:cNvSpPr/>
          <p:nvPr/>
        </p:nvSpPr>
        <p:spPr>
          <a:xfrm>
            <a:off x="292608" y="4114800"/>
            <a:ext cx="1572768" cy="372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正式上線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92608" y="4466661"/>
            <a:ext cx="1572768" cy="311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記錄成效數據，作為推廣依據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20240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4" name="Shape 62"/>
          <p:cNvSpPr/>
          <p:nvPr/>
        </p:nvSpPr>
        <p:spPr>
          <a:xfrm>
            <a:off x="3090672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5" name="Shape 63"/>
          <p:cNvSpPr/>
          <p:nvPr/>
        </p:nvSpPr>
        <p:spPr>
          <a:xfrm>
            <a:off x="4261104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6" name="Shape 64"/>
          <p:cNvSpPr/>
          <p:nvPr/>
        </p:nvSpPr>
        <p:spPr>
          <a:xfrm>
            <a:off x="5431536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7" name="Shape 65"/>
          <p:cNvSpPr/>
          <p:nvPr/>
        </p:nvSpPr>
        <p:spPr>
          <a:xfrm>
            <a:off x="6601968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8" name="Shape 66"/>
          <p:cNvSpPr/>
          <p:nvPr/>
        </p:nvSpPr>
        <p:spPr>
          <a:xfrm>
            <a:off x="7772400" y="4114800"/>
            <a:ext cx="1115568" cy="676656"/>
          </a:xfrm>
          <a:prstGeom prst="roundRect">
            <a:avLst>
              <a:gd name="adj" fmla="val 6757"/>
            </a:avLst>
          </a:prstGeom>
          <a:solidFill>
            <a:srgbClr val="F1F5F9"/>
          </a:solidFill>
          <a:ln/>
        </p:spPr>
      </p:sp>
      <p:sp>
        <p:nvSpPr>
          <p:cNvPr id="69" name="Shape 67"/>
          <p:cNvSpPr/>
          <p:nvPr/>
        </p:nvSpPr>
        <p:spPr>
          <a:xfrm>
            <a:off x="7772400" y="4187952"/>
            <a:ext cx="1115568" cy="530352"/>
          </a:xfrm>
          <a:prstGeom prst="roundRect">
            <a:avLst>
              <a:gd name="adj" fmla="val 12069"/>
            </a:avLst>
          </a:prstGeom>
          <a:solidFill>
            <a:srgbClr val="16A34A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863840" y="4187952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進階英文匯入系統全自動化上線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92608" y="477316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745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盤點準備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048256" y="477316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74" name="Text 72"/>
          <p:cNvSpPr/>
          <p:nvPr/>
        </p:nvSpPr>
        <p:spPr>
          <a:xfrm>
            <a:off x="2304288" y="4745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工具學習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803904" y="477316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76" name="Text 74"/>
          <p:cNvSpPr/>
          <p:nvPr/>
        </p:nvSpPr>
        <p:spPr>
          <a:xfrm>
            <a:off x="4059936" y="4745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系統開發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559552" y="477316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</p:spPr>
      </p:sp>
      <p:sp>
        <p:nvSpPr>
          <p:cNvPr id="78" name="Text 76"/>
          <p:cNvSpPr/>
          <p:nvPr/>
        </p:nvSpPr>
        <p:spPr>
          <a:xfrm>
            <a:off x="5815584" y="4745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測試驗證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315200" y="477316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80" name="Text 78"/>
          <p:cNvSpPr/>
          <p:nvPr/>
        </p:nvSpPr>
        <p:spPr>
          <a:xfrm>
            <a:off x="7571232" y="4745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正式上線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成效對比：導入前 vs 導入後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❌  導入前（現況）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 導入後（AI 自動化）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AFA"/>
          </a:solidFill>
          <a:ln w="9525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7393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5727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英文匯入作業每批需 3–5 小時人工處理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1737360"/>
            <a:ext cx="438912" cy="329184"/>
          </a:xfrm>
          <a:prstGeom prst="ellipse">
            <a:avLst/>
          </a:prstGeom>
          <a:solidFill>
            <a:srgbClr val="1E2D4E"/>
          </a:solidFill>
          <a:ln/>
        </p:spPr>
      </p:sp>
      <p:sp>
        <p:nvSpPr>
          <p:cNvPr id="12" name="Text 9"/>
          <p:cNvSpPr/>
          <p:nvPr/>
        </p:nvSpPr>
        <p:spPr>
          <a:xfrm>
            <a:off x="4352544" y="173736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46320" y="157276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EFA"/>
          </a:solidFill>
          <a:ln w="9525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7393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5727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自動完成，5 分鐘以內處理完畢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37744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AFA"/>
          </a:solidFill>
          <a:ln w="9525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786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3774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FoxPro 資料需人工匯出再匯入 MSSQL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352544" y="2542032"/>
            <a:ext cx="438912" cy="329184"/>
          </a:xfrm>
          <a:prstGeom prst="ellipse">
            <a:avLst/>
          </a:prstGeom>
          <a:solidFill>
            <a:srgbClr val="1E2D4E"/>
          </a:solidFill>
          <a:ln/>
        </p:spPr>
      </p:sp>
      <p:sp>
        <p:nvSpPr>
          <p:cNvPr id="20" name="Text 15"/>
          <p:cNvSpPr/>
          <p:nvPr/>
        </p:nvSpPr>
        <p:spPr>
          <a:xfrm>
            <a:off x="4352544" y="254203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846320" y="237744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EFA"/>
          </a:solidFill>
          <a:ln w="9525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7860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37744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 ETL 流程，即時同步三套系統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318211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AFA"/>
          </a:solidFill>
          <a:ln w="9525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318211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人工核對資料，常遺漏或填錯欄位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52544" y="3346704"/>
            <a:ext cx="438912" cy="329184"/>
          </a:xfrm>
          <a:prstGeom prst="ellipse">
            <a:avLst/>
          </a:prstGeom>
          <a:solidFill>
            <a:srgbClr val="1E2D4E"/>
          </a:solidFill>
          <a:ln/>
        </p:spPr>
      </p:sp>
      <p:sp>
        <p:nvSpPr>
          <p:cNvPr id="28" name="Text 21"/>
          <p:cNvSpPr/>
          <p:nvPr/>
        </p:nvSpPr>
        <p:spPr>
          <a:xfrm>
            <a:off x="4352544" y="334670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846320" y="318211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EFA"/>
          </a:solidFill>
          <a:ln w="9525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9240" y="318211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規則驗證，自動偵測異常並發出警示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457200" y="3986784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FFAFA"/>
          </a:solidFill>
          <a:ln w="9525">
            <a:solidFill>
              <a:srgbClr val="FECAC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8795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60120" y="398678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一人請假，作業流程無法正常運作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4352544" y="4151376"/>
            <a:ext cx="438912" cy="329184"/>
          </a:xfrm>
          <a:prstGeom prst="ellipse">
            <a:avLst/>
          </a:prstGeom>
          <a:solidFill>
            <a:srgbClr val="1E2D4E"/>
          </a:solidFill>
          <a:ln/>
        </p:spPr>
      </p:sp>
      <p:sp>
        <p:nvSpPr>
          <p:cNvPr id="36" name="Text 27"/>
          <p:cNvSpPr/>
          <p:nvPr/>
        </p:nvSpPr>
        <p:spPr>
          <a:xfrm>
            <a:off x="4352544" y="415137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4846320" y="3986784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F0FEFA"/>
          </a:solidFill>
          <a:ln w="9525">
            <a:solidFill>
              <a:srgbClr val="A7F3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87952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349240" y="398678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系統自動執行，不受人員異動影響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731520"/>
            <a:ext cx="2560320" cy="256032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立即啟動的三個行動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</a:rPr>
              <a:t>從進階英文匯入系統開始，快速驗證成效，逐步擴大應用範圍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第1-2月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：完成現有英文匯入系統流程文件化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920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將每個人工步驟逐一記錄，畫出資料流程圖，作為 AI 自動化開發的基礎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8892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88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第3-4月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：工具學習期，先請 AI 寫一支小腳本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3017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Claude AI 生成一段讀取 Excel 並寫入 MSSQL 的 Python 腳本，實際跑通一次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2000"/>
            </a:srgbClr>
          </a:solidFill>
          <a:ln/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88620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862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第4-5月：系統測試，人工與自動化並行驗證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4114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新系統跑出結果後，與人工作業結果比對，確認 100% 一致才正式切換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540</Words>
  <Application>Microsoft Office PowerPoint</Application>
  <PresentationFormat>如螢幕大小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自動化系統改善提案 v2</dc:title>
  <dc:subject>PptxGenJS Presentation</dc:subject>
  <dc:creator>PptxGenJS</dc:creator>
  <cp:lastModifiedBy>user</cp:lastModifiedBy>
  <cp:revision>4</cp:revision>
  <dcterms:created xsi:type="dcterms:W3CDTF">2026-06-18T01:28:53Z</dcterms:created>
  <dcterms:modified xsi:type="dcterms:W3CDTF">2026-06-18T03:07:09Z</dcterms:modified>
</cp:coreProperties>
</file>